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ChefIA" id="{09f88f2a-22a1-abef-ef0f-172c433eba85}">
          <p14:sldIdLst>
            <p14:sldId id="256"/>
            <p14:sldId id="257"/>
            <p14:sldId id="258"/>
            <p14:sldId id="259"/>
            <p14:sldId id="260"/>
            <p14:sldId id="261"/>
            <p14:sldId id="26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Apresente-se e diga o nome do produto: ChefIA, um gerador de receitas que usa a API Gemini.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Explique o problema real, a solução e o diferencial: validação e regras de negócio ao redor da 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Três blocos: app, API e Gemini. O app nunca fala direto com o Gemini, para proteger a chave.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Mostre que a API não é só um repasse: tem validações, regras e tratamento de erros.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Explique o fluxo em 5 passos. Destaque a saída em JSON estruturado, que facilita exibir a receita no app.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Substitua o mockup por prints/gravação reais do app rodando (npm run web) antes de apresentar.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Feche resumindo e abra para perguntas.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PA">
    <p:bg>
      <p:bgPr>
        <a:solidFill>
          <a:srgbClr val="5C2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UDO">
    <p:bg>
      <p:bgPr>
        <a:solidFill>
          <a:srgbClr val="FFF4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E8590C"/>
          </a:solidFill>
          <a:ln/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68E9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68E9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371600"/>
            <a:ext cx="7863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</a:rPr>
              <a:t>ChefIA</a:t>
            </a:r>
            <a:endParaRPr lang="en-US" sz="5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65176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E3CC"/>
                </a:solidFill>
              </a:rPr>
              <a:t>Gerador de receitas com a API Gemini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FFE3CC"/>
                </a:solidFill>
              </a:rPr>
              <a:t>API Node.js + React Native + IA generativa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5C2A0A"/>
                </a:solidFill>
              </a:rPr>
              <a:t>O conceito do produto</a:t>
            </a:r>
            <a:endParaRPr lang="en-US" sz="3000" dirty="0"/>
          </a:p>
        </p:txBody>
      </p:sp>
      <p:sp>
        <p:nvSpPr>
          <p:cNvPr id="3" name="card O problema"/>
          <p:cNvSpPr/>
          <p:nvPr/>
        </p:nvSpPr>
        <p:spPr>
          <a:xfrm>
            <a:off x="548640" y="1280160"/>
            <a:ext cx="384048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F1DFCF"/>
            </a:solidFill>
            <a:prstDash val="solid"/>
          </a:ln>
        </p:spPr>
      </p:sp>
      <p:sp>
        <p:nvSpPr>
          <p:cNvPr id="4" name="faixa O problema"/>
          <p:cNvSpPr/>
          <p:nvPr/>
        </p:nvSpPr>
        <p:spPr>
          <a:xfrm>
            <a:off x="548640" y="1280160"/>
            <a:ext cx="73152" cy="1554480"/>
          </a:xfrm>
          <a:prstGeom prst="rect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389888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2118"/>
                </a:solidFill>
              </a:rPr>
              <a:t>O problema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1783080"/>
            <a:ext cx="3474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44444"/>
                </a:solidFill>
              </a:rPr>
              <a:t>Sobra comida, falta ideia. Pessoas têm ingredientes em casa, mas não sabem o que cozinhar — e ainda têm restrições alimentares.</a:t>
            </a:r>
            <a:endParaRPr lang="en-US" sz="1300" dirty="0"/>
          </a:p>
        </p:txBody>
      </p:sp>
      <p:sp>
        <p:nvSpPr>
          <p:cNvPr id="7" name="card A solução"/>
          <p:cNvSpPr/>
          <p:nvPr/>
        </p:nvSpPr>
        <p:spPr>
          <a:xfrm>
            <a:off x="4754880" y="1280160"/>
            <a:ext cx="384048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F1DFCF"/>
            </a:solidFill>
            <a:prstDash val="solid"/>
          </a:ln>
        </p:spPr>
      </p:sp>
      <p:sp>
        <p:nvSpPr>
          <p:cNvPr id="8" name="faixa A solução"/>
          <p:cNvSpPr/>
          <p:nvPr/>
        </p:nvSpPr>
        <p:spPr>
          <a:xfrm>
            <a:off x="4754880" y="1280160"/>
            <a:ext cx="73152" cy="1554480"/>
          </a:xfrm>
          <a:prstGeom prst="rect">
            <a:avLst/>
          </a:prstGeom>
          <a:solidFill>
            <a:srgbClr val="2F9E44"/>
          </a:solidFill>
          <a:ln w="12700">
            <a:solidFill>
              <a:srgbClr val="2F9E4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983480" y="1389888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2118"/>
                </a:solidFill>
              </a:rPr>
              <a:t>A solução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4983480" y="1783080"/>
            <a:ext cx="3474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44444"/>
                </a:solidFill>
              </a:rPr>
              <a:t>O usuário informa ingredientes, restrições, porções e limite de calorias. O Gemini cria uma receita completa e personalizada.</a:t>
            </a:r>
            <a:endParaRPr lang="en-US" sz="1300" dirty="0"/>
          </a:p>
        </p:txBody>
      </p:sp>
      <p:sp>
        <p:nvSpPr>
          <p:cNvPr id="11" name="card Diferencial"/>
          <p:cNvSpPr/>
          <p:nvPr/>
        </p:nvSpPr>
        <p:spPr>
          <a:xfrm>
            <a:off x="548640" y="3017520"/>
            <a:ext cx="384048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F1DFCF"/>
            </a:solidFill>
            <a:prstDash val="solid"/>
          </a:ln>
        </p:spPr>
      </p:sp>
      <p:sp>
        <p:nvSpPr>
          <p:cNvPr id="12" name="faixa Diferencial"/>
          <p:cNvSpPr/>
          <p:nvPr/>
        </p:nvSpPr>
        <p:spPr>
          <a:xfrm>
            <a:off x="548640" y="3017520"/>
            <a:ext cx="73152" cy="1463040"/>
          </a:xfrm>
          <a:prstGeom prst="rect">
            <a:avLst/>
          </a:prstGeom>
          <a:solidFill>
            <a:srgbClr val="1C7ED6"/>
          </a:solidFill>
          <a:ln w="12700">
            <a:solidFill>
              <a:srgbClr val="1C7ED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77240" y="3127248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2118"/>
                </a:solidFill>
              </a:rPr>
              <a:t>Diferencial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777240" y="3520440"/>
            <a:ext cx="3474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44444"/>
                </a:solidFill>
              </a:rPr>
              <a:t>A IA não é chamada "no escuro": a API valida os dados e aplica regras de negócio antes e depois do Gemini.</a:t>
            </a:r>
            <a:endParaRPr lang="en-US" sz="1300" dirty="0"/>
          </a:p>
        </p:txBody>
      </p:sp>
      <p:sp>
        <p:nvSpPr>
          <p:cNvPr id="15" name="card Público"/>
          <p:cNvSpPr/>
          <p:nvPr/>
        </p:nvSpPr>
        <p:spPr>
          <a:xfrm>
            <a:off x="4754880" y="3017520"/>
            <a:ext cx="384048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F1DFCF"/>
            </a:solidFill>
            <a:prstDash val="solid"/>
          </a:ln>
        </p:spPr>
      </p:sp>
      <p:sp>
        <p:nvSpPr>
          <p:cNvPr id="16" name="faixa Público"/>
          <p:cNvSpPr/>
          <p:nvPr/>
        </p:nvSpPr>
        <p:spPr>
          <a:xfrm>
            <a:off x="4754880" y="3017520"/>
            <a:ext cx="73152" cy="1463040"/>
          </a:xfrm>
          <a:prstGeom prst="rect">
            <a:avLst/>
          </a:prstGeom>
          <a:solidFill>
            <a:srgbClr val="7048E8"/>
          </a:solidFill>
          <a:ln w="12700">
            <a:solidFill>
              <a:srgbClr val="7048E8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983480" y="3127248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2118"/>
                </a:solidFill>
              </a:rPr>
              <a:t>Público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4983480" y="3520440"/>
            <a:ext cx="3474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44444"/>
                </a:solidFill>
              </a:rPr>
              <a:t>Qualquer pessoa que queira cozinhar com o que tem, evitar desperdício e respeitar dietas (vegano, sem glúten...).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68E9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5C2A0A"/>
                </a:solidFill>
              </a:rPr>
              <a:t>Arquitetura</a:t>
            </a:r>
            <a:endParaRPr lang="en-US" sz="3000" dirty="0"/>
          </a:p>
        </p:txBody>
      </p:sp>
      <p:sp>
        <p:nvSpPr>
          <p:cNvPr id="3" name="bloco Frontend"/>
          <p:cNvSpPr/>
          <p:nvPr/>
        </p:nvSpPr>
        <p:spPr>
          <a:xfrm>
            <a:off x="457200" y="1463040"/>
            <a:ext cx="2194560" cy="1371600"/>
          </a:xfrm>
          <a:prstGeom prst="roundRect">
            <a:avLst>
              <a:gd name="adj" fmla="val 6667"/>
            </a:avLst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463040"/>
            <a:ext cx="21945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Frontend</a:t>
            </a:r>
            <a:endParaRPr lang="en-US" sz="16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React Native (Expo)</a:t>
            </a:r>
            <a:endParaRPr lang="en-US" sz="16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web + mobile</a:t>
            </a:r>
            <a:endParaRPr lang="en-US" sz="1600" dirty="0"/>
          </a:p>
        </p:txBody>
      </p:sp>
      <p:sp>
        <p:nvSpPr>
          <p:cNvPr id="5" name="bloco Backend"/>
          <p:cNvSpPr/>
          <p:nvPr/>
        </p:nvSpPr>
        <p:spPr>
          <a:xfrm>
            <a:off x="3474720" y="1463040"/>
            <a:ext cx="2194560" cy="1371600"/>
          </a:xfrm>
          <a:prstGeom prst="roundRect">
            <a:avLst>
              <a:gd name="adj" fmla="val 6667"/>
            </a:avLst>
          </a:prstGeom>
          <a:solidFill>
            <a:srgbClr val="2F9E44"/>
          </a:solidFill>
          <a:ln w="12700">
            <a:solidFill>
              <a:srgbClr val="2F9E4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3474720" y="1463040"/>
            <a:ext cx="21945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Backend</a:t>
            </a:r>
            <a:endParaRPr lang="en-US" sz="16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Node.js + Express</a:t>
            </a:r>
            <a:endParaRPr lang="en-US" sz="16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validações e regras</a:t>
            </a:r>
            <a:endParaRPr lang="en-US" sz="1600" dirty="0"/>
          </a:p>
        </p:txBody>
      </p:sp>
      <p:sp>
        <p:nvSpPr>
          <p:cNvPr id="7" name="bloco Gemini API"/>
          <p:cNvSpPr/>
          <p:nvPr/>
        </p:nvSpPr>
        <p:spPr>
          <a:xfrm>
            <a:off x="6492240" y="1463040"/>
            <a:ext cx="2194560" cy="1371600"/>
          </a:xfrm>
          <a:prstGeom prst="roundRect">
            <a:avLst>
              <a:gd name="adj" fmla="val 6667"/>
            </a:avLst>
          </a:prstGeom>
          <a:solidFill>
            <a:srgbClr val="1C7ED6"/>
          </a:solidFill>
          <a:ln w="12700">
            <a:solidFill>
              <a:srgbClr val="1C7ED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92240" y="1463040"/>
            <a:ext cx="21945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Gemini API</a:t>
            </a:r>
            <a:endParaRPr lang="en-US" sz="16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generateContent</a:t>
            </a:r>
            <a:endParaRPr lang="en-US" sz="16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JSON estruturado</a:t>
            </a:r>
            <a:endParaRPr lang="en-US" sz="1600" dirty="0"/>
          </a:p>
        </p:txBody>
      </p:sp>
      <p:sp>
        <p:nvSpPr>
          <p:cNvPr id="9" name="seta"/>
          <p:cNvSpPr/>
          <p:nvPr/>
        </p:nvSpPr>
        <p:spPr>
          <a:xfrm>
            <a:off x="2743200" y="1965960"/>
            <a:ext cx="640080" cy="365760"/>
          </a:xfrm>
          <a:prstGeom prst="rightArrow">
            <a:avLst/>
          </a:prstGeom>
          <a:solidFill>
            <a:srgbClr val="868E96"/>
          </a:solidFill>
          <a:ln w="12700">
            <a:solidFill>
              <a:srgbClr val="868E96"/>
            </a:solidFill>
            <a:prstDash val="solid"/>
          </a:ln>
        </p:spPr>
      </p:sp>
      <p:sp>
        <p:nvSpPr>
          <p:cNvPr id="10" name="seta"/>
          <p:cNvSpPr/>
          <p:nvPr/>
        </p:nvSpPr>
        <p:spPr>
          <a:xfrm>
            <a:off x="5760720" y="1965960"/>
            <a:ext cx="640080" cy="365760"/>
          </a:xfrm>
          <a:prstGeom prst="rightArrow">
            <a:avLst/>
          </a:prstGeom>
          <a:solidFill>
            <a:srgbClr val="868E96"/>
          </a:solidFill>
          <a:ln w="12700">
            <a:solidFill>
              <a:srgbClr val="868E9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606040" y="16459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HTTP / JSON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5623560" y="16459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HTTPS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3200400"/>
            <a:ext cx="804672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2B2118"/>
                </a:solidFill>
              </a:rPr>
              <a:t>Camadas no backend: 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2B2118"/>
                </a:solidFill>
              </a:rPr>
              <a:t>rotas (server.js) → validação (validators.js) → integração IA (gemini.js) → persistência (history.json)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2B2118"/>
                </a:solidFill>
              </a:rPr>
              <a:t>Segurança: 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2B2118"/>
                </a:solidFill>
              </a:rPr>
              <a:t>a chave do Gemini fica só no servidor (.env); rate limit de 10 req/min; timeout de 30 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68E9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5C2A0A"/>
                </a:solidFill>
              </a:rPr>
              <a:t>Regras de negócio e validações (API)</a:t>
            </a:r>
            <a:endParaRPr lang="en-US" sz="3000" dirty="0"/>
          </a:p>
        </p:txBody>
      </p:sp>
      <p:sp>
        <p:nvSpPr>
          <p:cNvPr id="3" name="card Validação de entrada"/>
          <p:cNvSpPr/>
          <p:nvPr/>
        </p:nvSpPr>
        <p:spPr>
          <a:xfrm>
            <a:off x="548640" y="1280160"/>
            <a:ext cx="384048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F1DFCF"/>
            </a:solidFill>
            <a:prstDash val="solid"/>
          </a:ln>
        </p:spPr>
      </p:sp>
      <p:sp>
        <p:nvSpPr>
          <p:cNvPr id="4" name="faixa Validação de entrada"/>
          <p:cNvSpPr/>
          <p:nvPr/>
        </p:nvSpPr>
        <p:spPr>
          <a:xfrm>
            <a:off x="548640" y="1280160"/>
            <a:ext cx="73152" cy="1463040"/>
          </a:xfrm>
          <a:prstGeom prst="rect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389888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2118"/>
                </a:solidFill>
              </a:rPr>
              <a:t>Validação de entrada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1783080"/>
            <a:ext cx="3474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44444"/>
                </a:solidFill>
              </a:rPr>
              <a:t>2–15 ingredientes únicos, só letras; porções 1–10; calorias 100–2000; restrições de lista fechada.</a:t>
            </a:r>
            <a:endParaRPr lang="en-US" sz="1300" dirty="0"/>
          </a:p>
        </p:txBody>
      </p:sp>
      <p:sp>
        <p:nvSpPr>
          <p:cNvPr id="7" name="card Regra de negócio"/>
          <p:cNvSpPr/>
          <p:nvPr/>
        </p:nvSpPr>
        <p:spPr>
          <a:xfrm>
            <a:off x="4754880" y="1280160"/>
            <a:ext cx="384048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F1DFCF"/>
            </a:solidFill>
            <a:prstDash val="solid"/>
          </a:ln>
        </p:spPr>
      </p:sp>
      <p:sp>
        <p:nvSpPr>
          <p:cNvPr id="8" name="faixa Regra de negócio"/>
          <p:cNvSpPr/>
          <p:nvPr/>
        </p:nvSpPr>
        <p:spPr>
          <a:xfrm>
            <a:off x="4754880" y="1280160"/>
            <a:ext cx="73152" cy="1463040"/>
          </a:xfrm>
          <a:prstGeom prst="rect">
            <a:avLst/>
          </a:prstGeom>
          <a:solidFill>
            <a:srgbClr val="2F9E44"/>
          </a:solidFill>
          <a:ln w="12700">
            <a:solidFill>
              <a:srgbClr val="2F9E4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983480" y="1389888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2118"/>
                </a:solidFill>
              </a:rPr>
              <a:t>Regra de negócio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4983480" y="1783080"/>
            <a:ext cx="3474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44444"/>
                </a:solidFill>
              </a:rPr>
              <a:t>Ingrediente × restrição: queijo + vegano é bloqueado com HTTP 422, sem gastar chamada à IA.</a:t>
            </a:r>
            <a:endParaRPr lang="en-US" sz="1300" dirty="0"/>
          </a:p>
        </p:txBody>
      </p:sp>
      <p:sp>
        <p:nvSpPr>
          <p:cNvPr id="11" name="card Tratamento da resposta"/>
          <p:cNvSpPr/>
          <p:nvPr/>
        </p:nvSpPr>
        <p:spPr>
          <a:xfrm>
            <a:off x="548640" y="2926080"/>
            <a:ext cx="384048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F1DFCF"/>
            </a:solidFill>
            <a:prstDash val="solid"/>
          </a:ln>
        </p:spPr>
      </p:sp>
      <p:sp>
        <p:nvSpPr>
          <p:cNvPr id="12" name="faixa Tratamento da resposta"/>
          <p:cNvSpPr/>
          <p:nvPr/>
        </p:nvSpPr>
        <p:spPr>
          <a:xfrm>
            <a:off x="548640" y="2926080"/>
            <a:ext cx="73152" cy="1554480"/>
          </a:xfrm>
          <a:prstGeom prst="rect">
            <a:avLst/>
          </a:prstGeom>
          <a:solidFill>
            <a:srgbClr val="1C7ED6"/>
          </a:solidFill>
          <a:ln w="12700">
            <a:solidFill>
              <a:srgbClr val="1C7ED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77240" y="3035808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2118"/>
                </a:solidFill>
              </a:rPr>
              <a:t>Tratamento da resposta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777240" y="3429000"/>
            <a:ext cx="3474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44444"/>
                </a:solidFill>
              </a:rPr>
              <a:t>A saída do Gemini é parseada e validada. Se vier inválida: 502. Se passar do limite de kcal: aviso ao usuário.</a:t>
            </a:r>
            <a:endParaRPr lang="en-US" sz="1300" dirty="0"/>
          </a:p>
        </p:txBody>
      </p:sp>
      <p:sp>
        <p:nvSpPr>
          <p:cNvPr id="15" name="card Erros e proteção"/>
          <p:cNvSpPr/>
          <p:nvPr/>
        </p:nvSpPr>
        <p:spPr>
          <a:xfrm>
            <a:off x="4754880" y="2926080"/>
            <a:ext cx="384048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F1DFCF"/>
            </a:solidFill>
            <a:prstDash val="solid"/>
          </a:ln>
        </p:spPr>
      </p:sp>
      <p:sp>
        <p:nvSpPr>
          <p:cNvPr id="16" name="faixa Erros e proteção"/>
          <p:cNvSpPr/>
          <p:nvPr/>
        </p:nvSpPr>
        <p:spPr>
          <a:xfrm>
            <a:off x="4754880" y="2926080"/>
            <a:ext cx="73152" cy="1554480"/>
          </a:xfrm>
          <a:prstGeom prst="rect">
            <a:avLst/>
          </a:prstGeom>
          <a:solidFill>
            <a:srgbClr val="F59F00"/>
          </a:solidFill>
          <a:ln w="12700">
            <a:solidFill>
              <a:srgbClr val="F59F0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983480" y="3035808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2118"/>
                </a:solidFill>
              </a:rPr>
              <a:t>Erros e proteção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4983480" y="3429000"/>
            <a:ext cx="3474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44444"/>
                </a:solidFill>
              </a:rPr>
              <a:t>400, 422, 429, 502, 503, 504 com mensagens claras; rate limit; sanitização contra prompt injection.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68E9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5C2A0A"/>
                </a:solidFill>
              </a:rPr>
              <a:t>Integração com a API Gemini</a:t>
            </a:r>
            <a:endParaRPr lang="en-US" sz="3000" dirty="0"/>
          </a:p>
        </p:txBody>
      </p:sp>
      <p:sp>
        <p:nvSpPr>
          <p:cNvPr id="3" name="passo 1"/>
          <p:cNvSpPr/>
          <p:nvPr/>
        </p:nvSpPr>
        <p:spPr>
          <a:xfrm>
            <a:off x="914400" y="1280160"/>
            <a:ext cx="502920" cy="502920"/>
          </a:xfrm>
          <a:prstGeom prst="ellipse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14400" y="12801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874520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B2118"/>
                </a:solidFill>
              </a:rPr>
              <a:t>Entrada validada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66666"/>
                </a:solidFill>
              </a:rPr>
              <a:t>ingredientes + restrições</a:t>
            </a:r>
            <a:endParaRPr lang="en-US" sz="1400" dirty="0"/>
          </a:p>
        </p:txBody>
      </p:sp>
      <p:sp>
        <p:nvSpPr>
          <p:cNvPr id="6" name="passo 2"/>
          <p:cNvSpPr/>
          <p:nvPr/>
        </p:nvSpPr>
        <p:spPr>
          <a:xfrm>
            <a:off x="2578608" y="1280160"/>
            <a:ext cx="502920" cy="502920"/>
          </a:xfrm>
          <a:prstGeom prst="ellipse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578608" y="12801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2121408" y="1874520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B2118"/>
                </a:solidFill>
              </a:rPr>
              <a:t>Prompt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66666"/>
                </a:solidFill>
              </a:rPr>
              <a:t>systemInstruction + contents</a:t>
            </a:r>
            <a:endParaRPr lang="en-US" sz="1400" dirty="0"/>
          </a:p>
        </p:txBody>
      </p:sp>
      <p:sp>
        <p:nvSpPr>
          <p:cNvPr id="9" name="passo 3"/>
          <p:cNvSpPr/>
          <p:nvPr/>
        </p:nvSpPr>
        <p:spPr>
          <a:xfrm>
            <a:off x="4242816" y="1280160"/>
            <a:ext cx="502920" cy="502920"/>
          </a:xfrm>
          <a:prstGeom prst="ellipse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242816" y="12801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3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3785616" y="1874520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B2118"/>
                </a:solidFill>
              </a:rPr>
              <a:t>Gemini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66666"/>
                </a:solidFill>
              </a:rPr>
              <a:t>gemini-2.5-flash</a:t>
            </a:r>
            <a:endParaRPr lang="en-US" sz="1400" dirty="0"/>
          </a:p>
        </p:txBody>
      </p:sp>
      <p:sp>
        <p:nvSpPr>
          <p:cNvPr id="12" name="passo 4"/>
          <p:cNvSpPr/>
          <p:nvPr/>
        </p:nvSpPr>
        <p:spPr>
          <a:xfrm>
            <a:off x="5907024" y="1280160"/>
            <a:ext cx="502920" cy="502920"/>
          </a:xfrm>
          <a:prstGeom prst="ellipse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907024" y="12801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4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5449824" y="1874520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B2118"/>
                </a:solidFill>
              </a:rPr>
              <a:t>JSON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66666"/>
                </a:solidFill>
              </a:rPr>
              <a:t>responseMimeType: application/json</a:t>
            </a:r>
            <a:endParaRPr lang="en-US" sz="1400" dirty="0"/>
          </a:p>
        </p:txBody>
      </p:sp>
      <p:sp>
        <p:nvSpPr>
          <p:cNvPr id="15" name="passo 5"/>
          <p:cNvSpPr/>
          <p:nvPr/>
        </p:nvSpPr>
        <p:spPr>
          <a:xfrm>
            <a:off x="7571232" y="1280160"/>
            <a:ext cx="502920" cy="502920"/>
          </a:xfrm>
          <a:prstGeom prst="ellipse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571232" y="12801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5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7114032" y="1874520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B2118"/>
                </a:solidFill>
              </a:rPr>
              <a:t>Validação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66666"/>
                </a:solidFill>
              </a:rPr>
              <a:t>formato + regra de kcal</a:t>
            </a:r>
            <a:endParaRPr lang="en-US" sz="1400" dirty="0"/>
          </a:p>
        </p:txBody>
      </p:sp>
      <p:sp>
        <p:nvSpPr>
          <p:cNvPr id="18" name="codigo"/>
          <p:cNvSpPr/>
          <p:nvPr/>
        </p:nvSpPr>
        <p:spPr>
          <a:xfrm>
            <a:off x="548640" y="2926080"/>
            <a:ext cx="8046720" cy="1554480"/>
          </a:xfrm>
          <a:prstGeom prst="roundRect">
            <a:avLst>
              <a:gd name="adj" fmla="val 4706"/>
            </a:avLst>
          </a:prstGeom>
          <a:solidFill>
            <a:srgbClr val="2B2118"/>
          </a:solidFill>
          <a:ln w="12700">
            <a:solidFill>
              <a:srgbClr val="2B2118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31520" y="3017520"/>
            <a:ext cx="7680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D8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/v1beta/models/gemini-2.5-flash:generateContent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D8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header  x-goog-api-key: &lt;chave do .env&gt;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D8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body    { systemInstruction, contents, generationConfig: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D8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{ temperature: 0.7, responseMimeType: "application/json" } }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68E9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5C2A0A"/>
                </a:solidFill>
              </a:rPr>
              <a:t>Demonstração do sistema</a:t>
            </a:r>
            <a:endParaRPr lang="en-US" sz="3000" dirty="0"/>
          </a:p>
        </p:txBody>
      </p:sp>
      <p:sp>
        <p:nvSpPr>
          <p:cNvPr id="3" name="tela do app"/>
          <p:cNvSpPr/>
          <p:nvPr/>
        </p:nvSpPr>
        <p:spPr>
          <a:xfrm>
            <a:off x="548640" y="1280160"/>
            <a:ext cx="2926080" cy="3200400"/>
          </a:xfrm>
          <a:prstGeom prst="roundRect">
            <a:avLst>
              <a:gd name="adj" fmla="val 4688"/>
            </a:avLst>
          </a:prstGeom>
          <a:solidFill>
            <a:srgbClr val="FFFFFF"/>
          </a:solidFill>
          <a:ln w="25400">
            <a:solidFill>
              <a:srgbClr val="E8590C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417320"/>
            <a:ext cx="25603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E8590C"/>
                </a:solidFill>
              </a:rPr>
              <a:t>🍳 ChefIA</a:t>
            </a:r>
            <a:endParaRPr lang="en-US" sz="18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2B2118"/>
                </a:solidFill>
              </a:rPr>
              <a:t>Ingredientes</a:t>
            </a:r>
            <a:endParaRPr lang="en-US" sz="18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2B2118"/>
                </a:solidFill>
              </a:rPr>
              <a:t>[tomate ✕] [ovo ✕] [cebola ✕]</a:t>
            </a:r>
            <a:endParaRPr lang="en-US" sz="18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2B2118"/>
                </a:solidFill>
              </a:rPr>
              <a:t>Restrições</a:t>
            </a:r>
            <a:endParaRPr lang="en-US" sz="18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2B2118"/>
                </a:solidFill>
              </a:rPr>
              <a:t>[vegetariano]  sem glúten</a:t>
            </a:r>
            <a:endParaRPr lang="en-US" sz="18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2B2118"/>
                </a:solidFill>
              </a:rPr>
              <a:t>Porções: 2   kcal máx: 500</a:t>
            </a:r>
            <a:endParaRPr lang="en-US" sz="18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E8590C"/>
                </a:solidFill>
              </a:rPr>
              <a:t>▶ Gerar receita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3840480" y="1280160"/>
            <a:ext cx="47548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800" b="1" dirty="0">
                <a:solidFill>
                  <a:srgbClr val="5C2A0A"/>
                </a:solidFill>
              </a:rPr>
              <a:t>Roteiro ao vivo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rgbClr val="2B2118"/>
                </a:solidFill>
              </a:rPr>
              <a:t>Adicionar tomate, ovo e cebola; marcar vegetariano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rgbClr val="2B2118"/>
                </a:solidFill>
              </a:rPr>
              <a:t>Gerar receita: título, tempo, kcal, ingredientes e passos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rgbClr val="2B2118"/>
                </a:solidFill>
              </a:rPr>
              <a:t>Ver o histórico salvo pela API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rgbClr val="2B2118"/>
                </a:solidFill>
              </a:rPr>
              <a:t>Testar erro: queijo + vegano → regra de negócio bloqueia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rgbClr val="2B2118"/>
                </a:solidFill>
              </a:rPr>
              <a:t>Mostrar npm test e a resposta JSON no terminal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68E9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5C2A0A"/>
                </a:solidFill>
              </a:rPr>
              <a:t>Conclusão e próximos passos</a:t>
            </a:r>
            <a:endParaRPr lang="en-US" sz="3000" dirty="0"/>
          </a:p>
        </p:txBody>
      </p:sp>
      <p:sp>
        <p:nvSpPr>
          <p:cNvPr id="3" name="card O que entregamos"/>
          <p:cNvSpPr/>
          <p:nvPr/>
        </p:nvSpPr>
        <p:spPr>
          <a:xfrm>
            <a:off x="548640" y="1280160"/>
            <a:ext cx="3840480" cy="3108960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12700">
            <a:solidFill>
              <a:srgbClr val="F1DFCF"/>
            </a:solidFill>
            <a:prstDash val="solid"/>
          </a:ln>
        </p:spPr>
      </p:sp>
      <p:sp>
        <p:nvSpPr>
          <p:cNvPr id="4" name="faixa O que entregamos"/>
          <p:cNvSpPr/>
          <p:nvPr/>
        </p:nvSpPr>
        <p:spPr>
          <a:xfrm>
            <a:off x="548640" y="1280160"/>
            <a:ext cx="73152" cy="3108960"/>
          </a:xfrm>
          <a:prstGeom prst="rect">
            <a:avLst/>
          </a:prstGeom>
          <a:solidFill>
            <a:srgbClr val="2F9E44"/>
          </a:solidFill>
          <a:ln w="12700">
            <a:solidFill>
              <a:srgbClr val="2F9E4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389888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2118"/>
                </a:solidFill>
              </a:rPr>
              <a:t>O que entregamos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1783080"/>
            <a:ext cx="347472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44444"/>
                </a:solidFill>
              </a:rPr>
              <a:t>• API Node.js com validações, regras de negócio e tratamento de erros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444444"/>
                </a:solidFill>
              </a:rPr>
              <a:t>• Integração real com o Gemini (saída JSON)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444444"/>
                </a:solidFill>
              </a:rPr>
              <a:t>• App React Native (web/mobile)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444444"/>
                </a:solidFill>
              </a:rPr>
              <a:t>• Testes automatizados e documentação</a:t>
            </a:r>
            <a:endParaRPr lang="en-US" sz="1300" dirty="0"/>
          </a:p>
        </p:txBody>
      </p:sp>
      <p:sp>
        <p:nvSpPr>
          <p:cNvPr id="7" name="card Próximos passos"/>
          <p:cNvSpPr/>
          <p:nvPr/>
        </p:nvSpPr>
        <p:spPr>
          <a:xfrm>
            <a:off x="4754880" y="1280160"/>
            <a:ext cx="3840480" cy="3108960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12700">
            <a:solidFill>
              <a:srgbClr val="F1DFCF"/>
            </a:solidFill>
            <a:prstDash val="solid"/>
          </a:ln>
        </p:spPr>
      </p:sp>
      <p:sp>
        <p:nvSpPr>
          <p:cNvPr id="8" name="faixa Próximos passos"/>
          <p:cNvSpPr/>
          <p:nvPr/>
        </p:nvSpPr>
        <p:spPr>
          <a:xfrm>
            <a:off x="4754880" y="1280160"/>
            <a:ext cx="73152" cy="3108960"/>
          </a:xfrm>
          <a:prstGeom prst="rect">
            <a:avLst/>
          </a:prstGeom>
          <a:solidFill>
            <a:srgbClr val="1C7ED6"/>
          </a:solidFill>
          <a:ln w="12700">
            <a:solidFill>
              <a:srgbClr val="1C7ED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983480" y="1389888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2118"/>
                </a:solidFill>
              </a:rPr>
              <a:t>Próximos passos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4983480" y="1783080"/>
            <a:ext cx="347472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44444"/>
                </a:solidFill>
              </a:rPr>
              <a:t>• Login de usuários e banco de dados (PostgreSQL)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444444"/>
                </a:solidFill>
              </a:rPr>
              <a:t>• Receitas favoritas e lista de compras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444444"/>
                </a:solidFill>
              </a:rPr>
              <a:t>• Foto dos ingredientes (Gemini multimodal)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444444"/>
                </a:solidFill>
              </a:rPr>
              <a:t>• Deploy (Render/Railway + Expo EAS)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68E9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hefIA">
  <a:themeElements>
    <a:clrScheme name="ChefIA">
      <a:dk1>
        <a:srgbClr val="2B2118"/>
      </a:dk1>
      <a:lt1>
        <a:srgbClr val="FFFFFF"/>
      </a:lt1>
      <a:dk2>
        <a:srgbClr val="5C2A0A"/>
      </a:dk2>
      <a:lt2>
        <a:srgbClr val="FFF4EA"/>
      </a:lt2>
      <a:accent1>
        <a:srgbClr val="E8590C"/>
      </a:accent1>
      <a:accent2>
        <a:srgbClr val="2F9E44"/>
      </a:accent2>
      <a:accent3>
        <a:srgbClr val="1C7ED6"/>
      </a:accent3>
      <a:accent4>
        <a:srgbClr val="F59F00"/>
      </a:accent4>
      <a:accent5>
        <a:srgbClr val="7048E8"/>
      </a:accent5>
      <a:accent6>
        <a:srgbClr val="868E96"/>
      </a:accent6>
      <a:hlink>
        <a:srgbClr val="1C7ED6"/>
      </a:hlink>
      <a:folHlink>
        <a:srgbClr val="7048E8"/>
      </a:folHlink>
    </a:clrScheme>
    <a:fontScheme name="ChefIA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ChefIA - Integração com a API Gemini</dc:title>
  <dc:subject>PptxGenJS Presentation</dc:subject>
  <dc:creator>PptxGenJS</dc:creator>
  <cp:lastModifiedBy>PptxGenJS</cp:lastModifiedBy>
  <cp:revision>1</cp:revision>
  <dcterms:created xsi:type="dcterms:W3CDTF">2026-10-08T16:43:42Z</dcterms:created>
  <dcterms:modified xsi:type="dcterms:W3CDTF">2026-10-08T16:43:42Z</dcterms:modified>
</cp:coreProperties>
</file>